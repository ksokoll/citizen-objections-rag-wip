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56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1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Sokoll" userId="8ea57693378b11bd" providerId="LiveId" clId="{D7AA2D50-F87D-494A-8FEB-9DA13612DFB6}"/>
    <pc:docChg chg="modSld">
      <pc:chgData name="Kevin Sokoll" userId="8ea57693378b11bd" providerId="LiveId" clId="{D7AA2D50-F87D-494A-8FEB-9DA13612DFB6}" dt="2026-05-19T10:47:44.321" v="0" actId="20577"/>
      <pc:docMkLst>
        <pc:docMk/>
      </pc:docMkLst>
      <pc:sldChg chg="modSp mod">
        <pc:chgData name="Kevin Sokoll" userId="8ea57693378b11bd" providerId="LiveId" clId="{D7AA2D50-F87D-494A-8FEB-9DA13612DFB6}" dt="2026-05-19T10:47:44.321" v="0" actId="20577"/>
        <pc:sldMkLst>
          <pc:docMk/>
          <pc:sldMk cId="54544099" sldId="259"/>
        </pc:sldMkLst>
        <pc:spChg chg="mod">
          <ac:chgData name="Kevin Sokoll" userId="8ea57693378b11bd" providerId="LiveId" clId="{D7AA2D50-F87D-494A-8FEB-9DA13612DFB6}" dt="2026-05-19T10:47:44.321" v="0" actId="20577"/>
          <ac:spMkLst>
            <pc:docMk/>
            <pc:sldMk cId="54544099" sldId="259"/>
            <ac:spMk id="22" creationId="{12103089-8209-4065-88E3-42614E17C43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80368D-CE1F-4407-AD06-5942211C4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63FE782-8C77-4098-9A05-0D192281EA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893D33-707D-4EF4-9B4B-14FC27163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82895-B6E1-499E-A2E3-C117FE5B0AB3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406327-63EE-4D2A-A60D-6BB2DEB7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4AE704-F11B-4398-93AE-3322C5722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F491-99DC-473A-A0B0-022835BFA1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0989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BC0F98-F410-411E-9EA4-BFF5D67DC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4298DB-CE05-42BF-97BC-C06015021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E548D2-FB1D-4A92-AD70-F6B96C8F9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82895-B6E1-499E-A2E3-C117FE5B0AB3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A3E2FC-90B0-44E9-9286-A09DA4EAD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64D58C-B1BF-4AB5-8696-D0753D81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F491-99DC-473A-A0B0-022835BFA1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2945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AF9A8B-92AB-4758-A496-5F911F4FF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A3159C-BE6F-4829-9B02-163109D82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EFA16B-652B-4A3C-A65B-23BFECF5B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82895-B6E1-499E-A2E3-C117FE5B0AB3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48D10D-3D43-4CBC-869F-EDBC17FF8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0D6B54-152C-41F3-B223-AFCFA18D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F491-99DC-473A-A0B0-022835BFA1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4656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CE0C0A-0064-4D1A-A709-8BBC80BFC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2D066F-54A2-4586-BD5E-CB6D7244D3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519D4EA-439B-49ED-BD30-85B1F8BEB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8AEC39-6225-40AF-ADAE-010FCD9AA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82895-B6E1-499E-A2E3-C117FE5B0AB3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3A12B37-3FDC-4A9B-A05C-A18AB5468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145E641-2546-4929-BFDA-D6F8696F0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F491-99DC-473A-A0B0-022835BFA1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5577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7BB6FC-7CD9-4B15-B820-B7E6AD7C1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8010B9A-2DF8-409B-B5BD-3BE209683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E7C59CB-A8F4-48BE-A187-D2AF3DD65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F29C139-D841-4D0F-95D9-438D7F4CD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EF818B3-7250-47BC-9CC8-78DE393C31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5417423-AF09-4DC4-9509-5F0F60FE4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82895-B6E1-499E-A2E3-C117FE5B0AB3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0C83A29-F57F-40A2-8386-010211366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477DE16-EEF4-4838-921A-8125B466B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F491-99DC-473A-A0B0-022835BFA1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3130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823D7A-2489-4AE2-8E92-031EFAFA1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57B5173-A2D6-48DC-BD22-EC4166A44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82895-B6E1-499E-A2E3-C117FE5B0AB3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3594BA-9181-43E9-ABA0-A1B65D9D6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493BD4D-9722-4D65-9C3A-DF1C61728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F491-99DC-473A-A0B0-022835BFA1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488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065AD92-C5DE-44C8-A842-A8BD763E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82895-B6E1-499E-A2E3-C117FE5B0AB3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1E71A6-9E67-478F-AC43-FC7E20E00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3A50D6C-651D-4F9F-83AC-EE2231026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F491-99DC-473A-A0B0-022835BFA1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3097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BBF067-C93A-405A-A7B9-8F18C2BBC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677AC5-09F8-4C45-A220-C99FC6328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BD3E09-90E8-4AA6-AE55-D5500F741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F0841D-C90C-4D77-8312-7914C5B85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82895-B6E1-499E-A2E3-C117FE5B0AB3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B57FEC-AC43-40A5-9C6D-27A71C7BB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FD0744-B5BB-4612-8B86-261F6E5F0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F491-99DC-473A-A0B0-022835BFA1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2555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E4D725-72DC-4CDB-8F82-EB4B6977D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71BF08E-51C1-4D9B-A422-BBA346EB04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AABF751-9FBF-4584-9BE5-0419C9B7A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5C450A-DA73-4C82-A369-FBF98FE2F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82895-B6E1-499E-A2E3-C117FE5B0AB3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737237-E317-4DEC-914B-ABBE8C6A4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6CD73A-EF7A-4609-B268-EDFEA6A7F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F491-99DC-473A-A0B0-022835BFA1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1353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429F25-55C2-43CE-A566-34CF539F2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76329BE-D816-421D-A77E-919106772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D67D95-524E-470E-90BE-9AA0E4F60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82895-B6E1-499E-A2E3-C117FE5B0AB3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F53F2B-62E9-4618-B371-AE6FDF49F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112D8D-B8A3-4316-9CF2-DD36113B3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F491-99DC-473A-A0B0-022835BFA1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165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51856EE-265F-4C61-B9DE-17FC31B13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A3F10FA-BAC0-4046-804B-2E260C645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9FEC5D-4A23-4EB1-AFB1-F6199DC4E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82895-B6E1-499E-A2E3-C117FE5B0AB3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822D37-2EF6-4C98-8DC9-0C69AB0ED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DD44D-A1CB-430B-B759-EAE213493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CF491-99DC-473A-A0B0-022835BFA1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993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3DF4137-8EE2-4954-B70E-60C10F574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3E3370-3279-438C-9D8C-9E5310C06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7EE888-9A74-45E9-B79D-26BD05F24A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82895-B6E1-499E-A2E3-C117FE5B0AB3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7ED26D-A0A0-4B1E-8213-64917B0DAC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1B1425-0F9A-41EF-AB3D-E3457C4CD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CF491-99DC-473A-A0B0-022835BFA1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517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1AE0CE8E-825C-41F0-ADA6-59B20328881B}"/>
              </a:ext>
            </a:extLst>
          </p:cNvPr>
          <p:cNvSpPr txBox="1"/>
          <p:nvPr/>
        </p:nvSpPr>
        <p:spPr>
          <a:xfrm>
            <a:off x="1362266" y="155039"/>
            <a:ext cx="1800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chemeClr val="accent1"/>
                </a:solidFill>
              </a:rPr>
              <a:t>Basics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12103089-8209-4065-88E3-42614E17C436}"/>
              </a:ext>
            </a:extLst>
          </p:cNvPr>
          <p:cNvSpPr txBox="1"/>
          <p:nvPr/>
        </p:nvSpPr>
        <p:spPr>
          <a:xfrm>
            <a:off x="419875" y="884079"/>
            <a:ext cx="66247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- Behörde erhält: Einwendungen im Beteiligungsverfahren</a:t>
            </a:r>
          </a:p>
          <a:p>
            <a:endParaRPr lang="de-DE" dirty="0"/>
          </a:p>
          <a:p>
            <a:r>
              <a:rPr lang="de-DE" dirty="0"/>
              <a:t>- Behörde will ausgeben: Abwägungsstellungnahme</a:t>
            </a:r>
          </a:p>
          <a:p>
            <a:endParaRPr lang="de-DE" dirty="0"/>
          </a:p>
          <a:p>
            <a:r>
              <a:rPr lang="de-DE" dirty="0"/>
              <a:t>- Fokus: RAG als Kernarchitektur (Response </a:t>
            </a:r>
            <a:r>
              <a:rPr lang="de-DE" dirty="0" err="1"/>
              <a:t>Drafting</a:t>
            </a:r>
            <a:r>
              <a:rPr lang="de-DE" dirty="0"/>
              <a:t>)</a:t>
            </a:r>
          </a:p>
          <a:p>
            <a:endParaRPr lang="de-DE" dirty="0"/>
          </a:p>
          <a:p>
            <a:r>
              <a:rPr lang="de-DE" dirty="0"/>
              <a:t>- Triage als notwendige Infrastruktur, </a:t>
            </a:r>
            <a:r>
              <a:rPr lang="de-DE" dirty="0" err="1"/>
              <a:t>Auditierbarkeit</a:t>
            </a:r>
            <a:r>
              <a:rPr lang="de-DE" dirty="0"/>
              <a:t> als </a:t>
            </a:r>
            <a:r>
              <a:rPr lang="de-DE" dirty="0" err="1"/>
              <a:t>Lernwert</a:t>
            </a:r>
            <a:endParaRPr lang="de-DE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42B04B08-212B-424B-A8CC-139F99EDB4A5}"/>
              </a:ext>
            </a:extLst>
          </p:cNvPr>
          <p:cNvSpPr txBox="1"/>
          <p:nvPr/>
        </p:nvSpPr>
        <p:spPr>
          <a:xfrm>
            <a:off x="419875" y="3203933"/>
            <a:ext cx="61768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i="1" dirty="0"/>
              <a:t>"Ein RAG-System für Masseneinwendungen im Beteiligungsverfahren, das Sachbearbeitern </a:t>
            </a:r>
            <a:r>
              <a:rPr lang="de-DE" i="1" dirty="0" err="1"/>
              <a:t>auditierbare</a:t>
            </a:r>
            <a:r>
              <a:rPr lang="de-DE" i="1" dirty="0"/>
              <a:t> Abwägungsstellungnahmen generiert, mit vollständiger Quellenreferenz und nachvollziehbarer Retrieval-Begründung pro Entwurf."</a:t>
            </a:r>
          </a:p>
        </p:txBody>
      </p:sp>
      <p:pic>
        <p:nvPicPr>
          <p:cNvPr id="11" name="Grafik 10" descr="Playbook mit einfarbiger Füllung">
            <a:extLst>
              <a:ext uri="{FF2B5EF4-FFF2-40B4-BE49-F238E27FC236}">
                <a16:creationId xmlns:a16="http://schemas.microsoft.com/office/drawing/2014/main" id="{55C7F27F-7E9F-4852-A372-4301DAF85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875" y="-3032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203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1AE0CE8E-825C-41F0-ADA6-59B20328881B}"/>
              </a:ext>
            </a:extLst>
          </p:cNvPr>
          <p:cNvSpPr txBox="1"/>
          <p:nvPr/>
        </p:nvSpPr>
        <p:spPr>
          <a:xfrm>
            <a:off x="1334276" y="204471"/>
            <a:ext cx="1800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chemeClr val="accent1"/>
                </a:solidFill>
              </a:rPr>
              <a:t>Features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12103089-8209-4065-88E3-42614E17C436}"/>
              </a:ext>
            </a:extLst>
          </p:cNvPr>
          <p:cNvSpPr txBox="1"/>
          <p:nvPr/>
        </p:nvSpPr>
        <p:spPr>
          <a:xfrm>
            <a:off x="419876" y="930732"/>
            <a:ext cx="66247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regulierter Domänen-Kontext mit echtem Abwägungsstruktur als Output-Format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Zwei Generierungs-Strategien (Sprachebene, juristische </a:t>
            </a:r>
            <a:r>
              <a:rPr lang="de-DE" dirty="0" err="1"/>
              <a:t>komplexität</a:t>
            </a:r>
            <a:r>
              <a:rPr lang="de-DE" dirty="0"/>
              <a:t>)</a:t>
            </a:r>
          </a:p>
          <a:p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ein Audit-Trail der die Retrieval-Entscheidungen als First-Class-Konzept behandelt</a:t>
            </a:r>
          </a:p>
        </p:txBody>
      </p:sp>
      <p:pic>
        <p:nvPicPr>
          <p:cNvPr id="3" name="Grafik 2" descr="Herz, pulsierend mit einfarbiger Füllung">
            <a:extLst>
              <a:ext uri="{FF2B5EF4-FFF2-40B4-BE49-F238E27FC236}">
                <a16:creationId xmlns:a16="http://schemas.microsoft.com/office/drawing/2014/main" id="{FC76FFD6-7955-487E-A272-13BCB8808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876" y="6298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420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1AE0CE8E-825C-41F0-ADA6-59B20328881B}"/>
              </a:ext>
            </a:extLst>
          </p:cNvPr>
          <p:cNvSpPr txBox="1"/>
          <p:nvPr/>
        </p:nvSpPr>
        <p:spPr>
          <a:xfrm>
            <a:off x="1408923" y="223118"/>
            <a:ext cx="2136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chemeClr val="accent1"/>
                </a:solidFill>
              </a:rPr>
              <a:t>Techniken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12103089-8209-4065-88E3-42614E17C436}"/>
              </a:ext>
            </a:extLst>
          </p:cNvPr>
          <p:cNvSpPr txBox="1"/>
          <p:nvPr/>
        </p:nvSpPr>
        <p:spPr>
          <a:xfrm>
            <a:off x="419876" y="930732"/>
            <a:ext cx="662473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Hybrid </a:t>
            </a:r>
            <a:r>
              <a:rPr lang="de-DE" dirty="0" err="1"/>
              <a:t>Retreival</a:t>
            </a:r>
            <a:r>
              <a:rPr lang="de-DE" dirty="0"/>
              <a:t> (BM25, FAISS </a:t>
            </a:r>
            <a:r>
              <a:rPr lang="de-DE" dirty="0" err="1"/>
              <a:t>dense</a:t>
            </a:r>
            <a:r>
              <a:rPr lang="de-DE" dirty="0"/>
              <a:t>)</a:t>
            </a:r>
          </a:p>
          <a:p>
            <a:pPr marL="742950" lvl="1" indent="-285750">
              <a:buFontTx/>
              <a:buChar char="-"/>
            </a:pPr>
            <a:r>
              <a:rPr lang="de-DE" dirty="0"/>
              <a:t>BM25 für exakte Gesetzestermini und Paragraphen, </a:t>
            </a:r>
            <a:r>
              <a:rPr lang="de-DE" dirty="0" err="1"/>
              <a:t>dense</a:t>
            </a:r>
            <a:r>
              <a:rPr lang="de-DE" dirty="0"/>
              <a:t> für semantische Ähnlichkeit.</a:t>
            </a:r>
          </a:p>
          <a:p>
            <a:pPr marL="742950" lvl="1" indent="-285750">
              <a:buFontTx/>
              <a:buChar char="-"/>
            </a:pPr>
            <a:endParaRPr lang="de-DE" dirty="0"/>
          </a:p>
          <a:p>
            <a:pPr marL="742950" lvl="1" indent="-285750">
              <a:buFontTx/>
              <a:buChar char="-"/>
            </a:pPr>
            <a:r>
              <a:rPr lang="de-DE" dirty="0"/>
              <a:t>Paragraphen-granulares Chunking nach § Grenzen</a:t>
            </a:r>
          </a:p>
          <a:p>
            <a:pPr marL="742950" lvl="1" indent="-285750">
              <a:buFontTx/>
              <a:buChar char="-"/>
            </a:pPr>
            <a:endParaRPr lang="de-DE" dirty="0"/>
          </a:p>
          <a:p>
            <a:pPr marL="742950" lvl="1" indent="-285750">
              <a:buFontTx/>
              <a:buChar char="-"/>
            </a:pPr>
            <a:r>
              <a:rPr lang="de-DE" dirty="0"/>
              <a:t>Domain-</a:t>
            </a:r>
            <a:r>
              <a:rPr lang="de-DE" dirty="0" err="1"/>
              <a:t>Routed</a:t>
            </a:r>
            <a:r>
              <a:rPr lang="de-DE" dirty="0"/>
              <a:t> </a:t>
            </a:r>
            <a:r>
              <a:rPr lang="de-DE"/>
              <a:t>Retrievalt: </a:t>
            </a:r>
            <a:r>
              <a:rPr lang="de-DE" dirty="0"/>
              <a:t>Erst Rechtsgebiet </a:t>
            </a:r>
            <a:r>
              <a:rPr lang="de-DE" dirty="0" err="1"/>
              <a:t>identizieren</a:t>
            </a:r>
            <a:r>
              <a:rPr lang="de-DE" dirty="0"/>
              <a:t> (BauGB, VwVfG, UVPG, …), dann Teilkorpus </a:t>
            </a:r>
            <a:r>
              <a:rPr lang="de-DE" dirty="0" err="1"/>
              <a:t>retreiven</a:t>
            </a:r>
            <a:r>
              <a:rPr lang="de-DE" dirty="0"/>
              <a:t>. Verhindert Cross-Domain-</a:t>
            </a:r>
            <a:r>
              <a:rPr lang="de-DE" dirty="0" err="1"/>
              <a:t>Confusion</a:t>
            </a:r>
            <a:r>
              <a:rPr lang="de-DE" dirty="0"/>
              <a:t>, dient Erklärbarkeit</a:t>
            </a:r>
          </a:p>
          <a:p>
            <a:pPr marL="742950" lvl="1" indent="-285750">
              <a:buFontTx/>
              <a:buChar char="-"/>
            </a:pPr>
            <a:endParaRPr lang="de-DE" dirty="0"/>
          </a:p>
          <a:p>
            <a:pPr marL="742950" lvl="1" indent="-285750">
              <a:buFontTx/>
              <a:buChar char="-"/>
            </a:pPr>
            <a:r>
              <a:rPr lang="de-DE" dirty="0"/>
              <a:t>Halluzinations-Strategie für Rechtsverweise: </a:t>
            </a:r>
            <a:r>
              <a:rPr lang="de-DE" dirty="0" err="1"/>
              <a:t>Constrained-Prompting</a:t>
            </a:r>
            <a:r>
              <a:rPr lang="de-DE" dirty="0"/>
              <a:t> aus bereitgestelltem Kontext, Post-hoc </a:t>
            </a:r>
            <a:r>
              <a:rPr lang="de-DE" dirty="0" err="1"/>
              <a:t>Regex</a:t>
            </a:r>
            <a:r>
              <a:rPr lang="de-DE" dirty="0"/>
              <a:t> Validation (Jede § Referenz wird gegen </a:t>
            </a:r>
            <a:r>
              <a:rPr lang="de-DE" dirty="0" err="1"/>
              <a:t>chunk_id‘s</a:t>
            </a:r>
            <a:r>
              <a:rPr lang="de-DE" dirty="0"/>
              <a:t> der </a:t>
            </a:r>
            <a:r>
              <a:rPr lang="de-DE" dirty="0" err="1"/>
              <a:t>retreved</a:t>
            </a:r>
            <a:r>
              <a:rPr lang="de-DE" dirty="0"/>
              <a:t> Quellen abgeglichen -&gt; Nicht gefunden = </a:t>
            </a:r>
            <a:r>
              <a:rPr lang="de-DE" dirty="0" err="1"/>
              <a:t>Flag</a:t>
            </a:r>
            <a:r>
              <a:rPr lang="de-DE" dirty="0"/>
              <a:t> statt stillem Durchlassen. Im Audit-Log: </a:t>
            </a:r>
            <a:r>
              <a:rPr lang="de-DE" dirty="0" err="1"/>
              <a:t>verifieed</a:t>
            </a:r>
            <a:r>
              <a:rPr lang="de-DE" dirty="0"/>
              <a:t>: </a:t>
            </a:r>
            <a:r>
              <a:rPr lang="de-DE" dirty="0" err="1"/>
              <a:t>bool</a:t>
            </a:r>
            <a:endParaRPr lang="de-DE" dirty="0"/>
          </a:p>
          <a:p>
            <a:pPr marL="742950" lvl="1" indent="-285750">
              <a:buFontTx/>
              <a:buChar char="-"/>
            </a:pPr>
            <a:endParaRPr lang="de-DE" dirty="0"/>
          </a:p>
          <a:p>
            <a:pPr marL="742950" lvl="1" indent="-285750">
              <a:buFontTx/>
              <a:buChar char="-"/>
            </a:pPr>
            <a:r>
              <a:rPr lang="de-DE" dirty="0"/>
              <a:t>Abwägungsstellungname als </a:t>
            </a:r>
            <a:r>
              <a:rPr lang="de-DE" dirty="0" err="1"/>
              <a:t>Pydantic</a:t>
            </a:r>
            <a:r>
              <a:rPr lang="de-DE" dirty="0"/>
              <a:t>-Modell</a:t>
            </a:r>
          </a:p>
        </p:txBody>
      </p:sp>
      <p:pic>
        <p:nvPicPr>
          <p:cNvPr id="3" name="Grafik 2" descr="Puzzleteile mit einfarbiger Füllung">
            <a:extLst>
              <a:ext uri="{FF2B5EF4-FFF2-40B4-BE49-F238E27FC236}">
                <a16:creationId xmlns:a16="http://schemas.microsoft.com/office/drawing/2014/main" id="{4797EDB7-AF23-4656-86BC-BA158B8FC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523" y="-3186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4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ssdiagramm: Alternativer Prozess 3">
            <a:extLst>
              <a:ext uri="{FF2B5EF4-FFF2-40B4-BE49-F238E27FC236}">
                <a16:creationId xmlns:a16="http://schemas.microsoft.com/office/drawing/2014/main" id="{BD2F87D2-C5E5-415B-A0CA-8DA401F94464}"/>
              </a:ext>
            </a:extLst>
          </p:cNvPr>
          <p:cNvSpPr/>
          <p:nvPr/>
        </p:nvSpPr>
        <p:spPr>
          <a:xfrm>
            <a:off x="578498" y="643812"/>
            <a:ext cx="1623526" cy="75578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Text-Extraktion</a:t>
            </a:r>
          </a:p>
        </p:txBody>
      </p:sp>
      <p:sp>
        <p:nvSpPr>
          <p:cNvPr id="5" name="Flussdiagramm: Alternativer Prozess 4">
            <a:extLst>
              <a:ext uri="{FF2B5EF4-FFF2-40B4-BE49-F238E27FC236}">
                <a16:creationId xmlns:a16="http://schemas.microsoft.com/office/drawing/2014/main" id="{BD24850A-882B-41E9-AA60-8ADFD8B291F6}"/>
              </a:ext>
            </a:extLst>
          </p:cNvPr>
          <p:cNvSpPr/>
          <p:nvPr/>
        </p:nvSpPr>
        <p:spPr>
          <a:xfrm>
            <a:off x="2354424" y="653143"/>
            <a:ext cx="1623526" cy="75578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PII-</a:t>
            </a:r>
            <a:r>
              <a:rPr lang="de-DE" dirty="0" err="1"/>
              <a:t>Masking</a:t>
            </a:r>
            <a:endParaRPr lang="de-DE" dirty="0"/>
          </a:p>
        </p:txBody>
      </p:sp>
      <p:sp>
        <p:nvSpPr>
          <p:cNvPr id="6" name="Flussdiagramm: Alternativer Prozess 5">
            <a:extLst>
              <a:ext uri="{FF2B5EF4-FFF2-40B4-BE49-F238E27FC236}">
                <a16:creationId xmlns:a16="http://schemas.microsoft.com/office/drawing/2014/main" id="{D07F08F9-51FA-40BB-A576-38A797FFB2AD}"/>
              </a:ext>
            </a:extLst>
          </p:cNvPr>
          <p:cNvSpPr/>
          <p:nvPr/>
        </p:nvSpPr>
        <p:spPr>
          <a:xfrm>
            <a:off x="4130350" y="653143"/>
            <a:ext cx="1623526" cy="75578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Rohdokument ablegen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7408F261-5CDF-47C3-84B1-1D2386FBCEB2}"/>
              </a:ext>
            </a:extLst>
          </p:cNvPr>
          <p:cNvSpPr/>
          <p:nvPr/>
        </p:nvSpPr>
        <p:spPr>
          <a:xfrm>
            <a:off x="167951" y="429208"/>
            <a:ext cx="6195527" cy="149289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lussdiagramm: Alternativer Prozess 7">
            <a:extLst>
              <a:ext uri="{FF2B5EF4-FFF2-40B4-BE49-F238E27FC236}">
                <a16:creationId xmlns:a16="http://schemas.microsoft.com/office/drawing/2014/main" id="{7DCB951B-C941-410A-8571-FA5FD9E74911}"/>
              </a:ext>
            </a:extLst>
          </p:cNvPr>
          <p:cNvSpPr/>
          <p:nvPr/>
        </p:nvSpPr>
        <p:spPr>
          <a:xfrm>
            <a:off x="578498" y="2289110"/>
            <a:ext cx="1623526" cy="75578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Argument-Extraktion</a:t>
            </a:r>
          </a:p>
        </p:txBody>
      </p:sp>
      <p:sp>
        <p:nvSpPr>
          <p:cNvPr id="9" name="Flussdiagramm: Alternativer Prozess 8">
            <a:extLst>
              <a:ext uri="{FF2B5EF4-FFF2-40B4-BE49-F238E27FC236}">
                <a16:creationId xmlns:a16="http://schemas.microsoft.com/office/drawing/2014/main" id="{0900FE0F-FBED-44F4-AF72-0E5A76946248}"/>
              </a:ext>
            </a:extLst>
          </p:cNvPr>
          <p:cNvSpPr/>
          <p:nvPr/>
        </p:nvSpPr>
        <p:spPr>
          <a:xfrm>
            <a:off x="2506824" y="2289110"/>
            <a:ext cx="1623526" cy="75578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Catalog-</a:t>
            </a:r>
            <a:r>
              <a:rPr lang="de-DE" dirty="0" err="1"/>
              <a:t>Matching</a:t>
            </a:r>
            <a:endParaRPr lang="de-DE" dirty="0"/>
          </a:p>
        </p:txBody>
      </p:sp>
      <p:sp>
        <p:nvSpPr>
          <p:cNvPr id="10" name="Flussdiagramm: Alternativer Prozess 9">
            <a:extLst>
              <a:ext uri="{FF2B5EF4-FFF2-40B4-BE49-F238E27FC236}">
                <a16:creationId xmlns:a16="http://schemas.microsoft.com/office/drawing/2014/main" id="{E1759BB5-EE5B-4603-99DC-5266D4C3F5A3}"/>
              </a:ext>
            </a:extLst>
          </p:cNvPr>
          <p:cNvSpPr/>
          <p:nvPr/>
        </p:nvSpPr>
        <p:spPr>
          <a:xfrm>
            <a:off x="4435150" y="2289110"/>
            <a:ext cx="1623526" cy="75578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Typ1/Typ2 Klassifikation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E59E3733-F8B6-4CDC-8E96-0A3DE8C90DC7}"/>
              </a:ext>
            </a:extLst>
          </p:cNvPr>
          <p:cNvSpPr/>
          <p:nvPr/>
        </p:nvSpPr>
        <p:spPr>
          <a:xfrm>
            <a:off x="167950" y="2136710"/>
            <a:ext cx="6195527" cy="149289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Flussdiagramm: Alternativer Prozess 12">
            <a:extLst>
              <a:ext uri="{FF2B5EF4-FFF2-40B4-BE49-F238E27FC236}">
                <a16:creationId xmlns:a16="http://schemas.microsoft.com/office/drawing/2014/main" id="{63B77BAE-012B-46A4-A86A-FEFEADCFEAE0}"/>
              </a:ext>
            </a:extLst>
          </p:cNvPr>
          <p:cNvSpPr/>
          <p:nvPr/>
        </p:nvSpPr>
        <p:spPr>
          <a:xfrm>
            <a:off x="578498" y="3943739"/>
            <a:ext cx="1623526" cy="75578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RAG Call</a:t>
            </a:r>
          </a:p>
        </p:txBody>
      </p:sp>
      <p:sp>
        <p:nvSpPr>
          <p:cNvPr id="14" name="Flussdiagramm: Alternativer Prozess 13">
            <a:extLst>
              <a:ext uri="{FF2B5EF4-FFF2-40B4-BE49-F238E27FC236}">
                <a16:creationId xmlns:a16="http://schemas.microsoft.com/office/drawing/2014/main" id="{D6B72812-6656-40DA-B5EA-C12798968FB7}"/>
              </a:ext>
            </a:extLst>
          </p:cNvPr>
          <p:cNvSpPr/>
          <p:nvPr/>
        </p:nvSpPr>
        <p:spPr>
          <a:xfrm>
            <a:off x="578498" y="5013650"/>
            <a:ext cx="1623526" cy="75578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Event Log mit </a:t>
            </a:r>
            <a:r>
              <a:rPr lang="de-DE" sz="1400" dirty="0" err="1"/>
              <a:t>Konfideanz</a:t>
            </a:r>
            <a:r>
              <a:rPr lang="de-DE" sz="1400" dirty="0"/>
              <a:t> &amp; Evidenz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D2ED83A0-135B-46F7-93A1-800C82BCEA55}"/>
              </a:ext>
            </a:extLst>
          </p:cNvPr>
          <p:cNvSpPr/>
          <p:nvPr/>
        </p:nvSpPr>
        <p:spPr>
          <a:xfrm>
            <a:off x="167949" y="3782008"/>
            <a:ext cx="6195527" cy="102325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22EA3CA9-8A91-42EF-985F-C213D624CCC5}"/>
              </a:ext>
            </a:extLst>
          </p:cNvPr>
          <p:cNvSpPr/>
          <p:nvPr/>
        </p:nvSpPr>
        <p:spPr>
          <a:xfrm>
            <a:off x="167949" y="4904792"/>
            <a:ext cx="6195527" cy="102325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AE0CE8E-825C-41F0-ADA6-59B20328881B}"/>
              </a:ext>
            </a:extLst>
          </p:cNvPr>
          <p:cNvSpPr txBox="1"/>
          <p:nvPr/>
        </p:nvSpPr>
        <p:spPr>
          <a:xfrm>
            <a:off x="6774023" y="59876"/>
            <a:ext cx="1800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 err="1"/>
              <a:t>Bounded</a:t>
            </a:r>
            <a:r>
              <a:rPr lang="de-DE" i="1" dirty="0"/>
              <a:t> </a:t>
            </a:r>
            <a:r>
              <a:rPr lang="de-DE" i="1" dirty="0" err="1"/>
              <a:t>Context</a:t>
            </a:r>
            <a:endParaRPr lang="de-DE" i="1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CB301BE-8D62-436C-AF4D-6DE8E7E7BBD2}"/>
              </a:ext>
            </a:extLst>
          </p:cNvPr>
          <p:cNvSpPr txBox="1"/>
          <p:nvPr/>
        </p:nvSpPr>
        <p:spPr>
          <a:xfrm>
            <a:off x="6774023" y="846367"/>
            <a:ext cx="2155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Document</a:t>
            </a:r>
            <a:r>
              <a:rPr lang="de-DE" dirty="0"/>
              <a:t> Ingestion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ACFDFA7-41FF-4A3C-BE9B-BB836AA3553C}"/>
              </a:ext>
            </a:extLst>
          </p:cNvPr>
          <p:cNvSpPr txBox="1"/>
          <p:nvPr/>
        </p:nvSpPr>
        <p:spPr>
          <a:xfrm>
            <a:off x="6774023" y="2523159"/>
            <a:ext cx="2155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Triage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E1EBFAD-6048-443D-934C-A46A8DB66AA5}"/>
              </a:ext>
            </a:extLst>
          </p:cNvPr>
          <p:cNvSpPr txBox="1"/>
          <p:nvPr/>
        </p:nvSpPr>
        <p:spPr>
          <a:xfrm>
            <a:off x="6774023" y="4118301"/>
            <a:ext cx="2155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Response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98F7190-68DF-4D3C-A36C-8C02B3385B87}"/>
              </a:ext>
            </a:extLst>
          </p:cNvPr>
          <p:cNvSpPr txBox="1"/>
          <p:nvPr/>
        </p:nvSpPr>
        <p:spPr>
          <a:xfrm>
            <a:off x="6774023" y="5216205"/>
            <a:ext cx="2155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AuditLog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31243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Microsoft Office PowerPoint</Application>
  <PresentationFormat>Breitbild</PresentationFormat>
  <Paragraphs>39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Kevin Sokoll</dc:creator>
  <cp:lastModifiedBy>Kevin Sokoll</cp:lastModifiedBy>
  <cp:revision>3</cp:revision>
  <dcterms:created xsi:type="dcterms:W3CDTF">2026-05-19T10:29:37Z</dcterms:created>
  <dcterms:modified xsi:type="dcterms:W3CDTF">2026-05-19T10:48:13Z</dcterms:modified>
</cp:coreProperties>
</file>